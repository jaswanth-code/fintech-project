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74" r:id="rId1"/>
    <p:sldMasterId id="2147483959" r:id="rId2"/>
    <p:sldMasterId id="2147483971" r:id="rId3"/>
    <p:sldMasterId id="2147483983" r:id="rId4"/>
    <p:sldMasterId id="2147483995" r:id="rId5"/>
  </p:sldMasterIdLst>
  <p:sldIdLst>
    <p:sldId id="256" r:id="rId6"/>
    <p:sldId id="258" r:id="rId7"/>
    <p:sldId id="545" r:id="rId8"/>
    <p:sldId id="270" r:id="rId9"/>
    <p:sldId id="546" r:id="rId10"/>
    <p:sldId id="548" r:id="rId11"/>
    <p:sldId id="570" r:id="rId12"/>
    <p:sldId id="551" r:id="rId13"/>
    <p:sldId id="550" r:id="rId14"/>
    <p:sldId id="549" r:id="rId15"/>
    <p:sldId id="552" r:id="rId16"/>
    <p:sldId id="553" r:id="rId17"/>
    <p:sldId id="554" r:id="rId18"/>
    <p:sldId id="556" r:id="rId19"/>
    <p:sldId id="557" r:id="rId20"/>
    <p:sldId id="569" r:id="rId21"/>
    <p:sldId id="558" r:id="rId22"/>
    <p:sldId id="559" r:id="rId23"/>
    <p:sldId id="561" r:id="rId24"/>
    <p:sldId id="562" r:id="rId25"/>
    <p:sldId id="564" r:id="rId26"/>
    <p:sldId id="565" r:id="rId27"/>
    <p:sldId id="563" r:id="rId28"/>
    <p:sldId id="566" r:id="rId29"/>
    <p:sldId id="568" r:id="rId30"/>
    <p:sldId id="56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6CCFF"/>
    <a:srgbClr val="0033CC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31F2D-76E5-C812-BD43-122680D1F60F}" v="929" dt="2026-06-11T14:31:33.542"/>
    <p1510:client id="{778D9BF6-D67C-5837-0030-A1A01787E86B}" v="14" dt="2026-06-11T16:30:14.563"/>
    <p1510:client id="{89760A4C-D605-5FAC-7802-5AD543B43E39}" v="283" dt="2026-06-09T17:22:38.139"/>
    <p1510:client id="{98786A6A-A01E-8949-516A-D227FB645F81}" v="372" dt="2026-06-11T16:15:39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6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wanth nallabothu" userId="5914bd7394a80551" providerId="Windows Live" clId="Web-{778D9BF6-D67C-5837-0030-A1A01787E86B}"/>
    <pc:docChg chg="addSld modSld">
      <pc:chgData name="jaswanth nallabothu" userId="5914bd7394a80551" providerId="Windows Live" clId="Web-{778D9BF6-D67C-5837-0030-A1A01787E86B}" dt="2026-06-11T16:30:14.563" v="12"/>
      <pc:docMkLst>
        <pc:docMk/>
      </pc:docMkLst>
      <pc:sldChg chg="modSp">
        <pc:chgData name="jaswanth nallabothu" userId="5914bd7394a80551" providerId="Windows Live" clId="Web-{778D9BF6-D67C-5837-0030-A1A01787E86B}" dt="2026-06-11T16:30:03.922" v="11" actId="20577"/>
        <pc:sldMkLst>
          <pc:docMk/>
          <pc:sldMk cId="1568652254" sldId="548"/>
        </pc:sldMkLst>
        <pc:spChg chg="mod">
          <ac:chgData name="jaswanth nallabothu" userId="5914bd7394a80551" providerId="Windows Live" clId="Web-{778D9BF6-D67C-5837-0030-A1A01787E86B}" dt="2026-06-11T16:30:03.922" v="11" actId="20577"/>
          <ac:spMkLst>
            <pc:docMk/>
            <pc:sldMk cId="1568652254" sldId="548"/>
            <ac:spMk id="5" creationId="{D32058D4-3C10-D25D-8377-2FED215193AC}"/>
          </ac:spMkLst>
        </pc:spChg>
      </pc:sldChg>
      <pc:sldChg chg="addSp delSp modSp new">
        <pc:chgData name="jaswanth nallabothu" userId="5914bd7394a80551" providerId="Windows Live" clId="Web-{778D9BF6-D67C-5837-0030-A1A01787E86B}" dt="2026-06-11T16:23:20.971" v="4" actId="14100"/>
        <pc:sldMkLst>
          <pc:docMk/>
          <pc:sldMk cId="1849676288" sldId="569"/>
        </pc:sldMkLst>
        <pc:spChg chg="del">
          <ac:chgData name="jaswanth nallabothu" userId="5914bd7394a80551" providerId="Windows Live" clId="Web-{778D9BF6-D67C-5837-0030-A1A01787E86B}" dt="2026-06-11T16:23:12.440" v="2"/>
          <ac:spMkLst>
            <pc:docMk/>
            <pc:sldMk cId="1849676288" sldId="569"/>
            <ac:spMk id="2" creationId="{AA1FFBB7-F304-51A9-D11F-A3D1CC287A79}"/>
          </ac:spMkLst>
        </pc:spChg>
        <pc:spChg chg="del">
          <ac:chgData name="jaswanth nallabothu" userId="5914bd7394a80551" providerId="Windows Live" clId="Web-{778D9BF6-D67C-5837-0030-A1A01787E86B}" dt="2026-06-11T16:22:55.736" v="1"/>
          <ac:spMkLst>
            <pc:docMk/>
            <pc:sldMk cId="1849676288" sldId="569"/>
            <ac:spMk id="3" creationId="{05048C24-F87B-00F7-4040-118C9F4093BD}"/>
          </ac:spMkLst>
        </pc:spChg>
        <pc:picChg chg="add mod ord">
          <ac:chgData name="jaswanth nallabothu" userId="5914bd7394a80551" providerId="Windows Live" clId="Web-{778D9BF6-D67C-5837-0030-A1A01787E86B}" dt="2026-06-11T16:23:20.971" v="4" actId="14100"/>
          <ac:picMkLst>
            <pc:docMk/>
            <pc:sldMk cId="1849676288" sldId="569"/>
            <ac:picMk id="4" creationId="{E66E9EDD-ED43-BA04-E876-DCA813AB386B}"/>
          </ac:picMkLst>
        </pc:picChg>
      </pc:sldChg>
      <pc:sldChg chg="new">
        <pc:chgData name="jaswanth nallabothu" userId="5914bd7394a80551" providerId="Windows Live" clId="Web-{778D9BF6-D67C-5837-0030-A1A01787E86B}" dt="2026-06-11T16:30:14.563" v="12"/>
        <pc:sldMkLst>
          <pc:docMk/>
          <pc:sldMk cId="1393685124" sldId="5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15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55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05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45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2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95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084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73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23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51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5605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875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9979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813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77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01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21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07893"/>
            <a:ext cx="103632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3" y="4962530"/>
            <a:ext cx="10513484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3" y="3462343"/>
            <a:ext cx="10513484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49784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1600200"/>
            <a:ext cx="49784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283200" y="1447800"/>
            <a:ext cx="619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6864" y="2547895"/>
            <a:ext cx="39624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09792" y="1447800"/>
            <a:ext cx="4559808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547893"/>
            <a:ext cx="39624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9457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9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9457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84111" y="1575654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5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423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027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7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9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1216" y="3009908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8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7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33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21" y="4074183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5" y="3429009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9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9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7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9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7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3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8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  <p:sldLayoutId id="2147484086" r:id="rId12"/>
    <p:sldLayoutId id="2147484087" r:id="rId13"/>
    <p:sldLayoutId id="2147484088" r:id="rId14"/>
    <p:sldLayoutId id="2147484089" r:id="rId15"/>
    <p:sldLayoutId id="2147484090" r:id="rId16"/>
    <p:sldLayoutId id="214748409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4AAD347D-5ACD-4C99-B74B-A9C85AD731AF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3"/>
            <a:ext cx="10566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0" y="6356353"/>
            <a:ext cx="203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56353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5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40179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71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9CA7F16-7EF7-4BAE-A533-BC5C8B1B0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9" y="6250171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2" y="6250170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61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0642" y="873868"/>
            <a:ext cx="12056533" cy="1036679"/>
          </a:xfrm>
        </p:spPr>
        <p:txBody>
          <a:bodyPr>
            <a:normAutofit fontScale="90000"/>
          </a:bodyPr>
          <a:lstStyle/>
          <a:p>
            <a:pPr marL="182880" algn="ctr"/>
            <a:r>
              <a:rPr lang="en-US" sz="24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Mutual</a:t>
            </a:r>
            <a:r>
              <a:rPr lang="en-US" sz="2400" dirty="0">
                <a:solidFill>
                  <a:srgbClr val="002060"/>
                </a:solidFill>
                <a:ea typeface="+mj-lt"/>
                <a:cs typeface="+mj-lt"/>
              </a:rPr>
              <a:t> Fund Analytics Dashboard &amp; Performance Evaluation</a:t>
            </a:r>
            <a:br>
              <a:rPr lang="en-US" sz="2400" dirty="0">
                <a:solidFill>
                  <a:srgbClr val="002060"/>
                </a:solidFill>
                <a:effectLst/>
                <a:latin typeface="Trebuchet MS"/>
              </a:rPr>
            </a:br>
            <a:r>
              <a:rPr lang="en-US" sz="2400">
                <a:solidFill>
                  <a:srgbClr val="002060"/>
                </a:solidFill>
                <a:ea typeface="+mj-lt"/>
                <a:cs typeface="+mj-lt"/>
              </a:rPr>
              <a:t>Capstone Project – Mutual Fund Analytics</a:t>
            </a:r>
            <a:br>
              <a:rPr lang="en-IN" sz="2400" dirty="0">
                <a:latin typeface="Arial Black" pitchFamily="34" charset="0"/>
              </a:rPr>
            </a:br>
            <a:endParaRPr lang="en-IN" sz="2400" dirty="0">
              <a:solidFill>
                <a:srgbClr val="C00000"/>
              </a:solidFill>
              <a:effectLst/>
              <a:latin typeface="Arial Black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66461" y="3428992"/>
            <a:ext cx="542134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>
                <a:solidFill>
                  <a:srgbClr val="002060"/>
                </a:solidFill>
              </a:rPr>
              <a:t>Presented  by</a:t>
            </a:r>
            <a:endParaRPr lang="en-GB" sz="2000" b="1" dirty="0">
              <a:solidFill>
                <a:srgbClr val="002060"/>
              </a:solidFill>
            </a:endParaRPr>
          </a:p>
          <a:p>
            <a:endParaRPr lang="en-GB" sz="20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just"/>
            <a:r>
              <a:rPr lang="en-GB" sz="2000" b="1" dirty="0" err="1">
                <a:solidFill>
                  <a:srgbClr val="0033CC"/>
                </a:solidFill>
                <a:latin typeface="Trebuchet MS"/>
                <a:cs typeface="Times New Roman"/>
              </a:rPr>
              <a:t>Nallabothu</a:t>
            </a:r>
            <a:r>
              <a:rPr lang="en-GB" sz="2000" b="1" dirty="0">
                <a:solidFill>
                  <a:srgbClr val="0033CC"/>
                </a:solidFill>
                <a:latin typeface="Trebuchet MS"/>
                <a:cs typeface="Times New Roman"/>
              </a:rPr>
              <a:t> Jaswanth</a:t>
            </a:r>
          </a:p>
          <a:p>
            <a:r>
              <a:rPr lang="en-GB" sz="2000" b="1">
                <a:latin typeface="Trebuchet MS"/>
                <a:cs typeface="Times New Roman"/>
              </a:rPr>
              <a:t>Blue Stock Fintech Internship Program</a:t>
            </a:r>
          </a:p>
          <a:p>
            <a:r>
              <a:rPr lang="en-GB" sz="2000" b="1">
                <a:latin typeface="Trebuchet MS"/>
                <a:ea typeface="+mn-lt"/>
                <a:cs typeface="Times New Roman"/>
              </a:rPr>
              <a:t>Capstone Project I</a:t>
            </a:r>
            <a:endParaRPr lang="en-GB">
              <a:latin typeface="Trebuchet MS"/>
              <a:ea typeface="+mn-lt"/>
              <a:cs typeface="Times New Roman"/>
            </a:endParaRPr>
          </a:p>
          <a:p>
            <a:r>
              <a:rPr lang="en-GB" sz="2000" b="1">
                <a:latin typeface="Trebuchet MS"/>
                <a:cs typeface="Times New Roman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203193485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021" y="52316"/>
            <a:ext cx="8596668" cy="3322471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  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Project Overview</a:t>
            </a:r>
            <a:endParaRPr lang="en-US" sz="2800">
              <a:solidFill>
                <a:srgbClr val="00206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F466CD-CA93-4A06-3DCD-60883BCF7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640" y="684971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6666FF"/>
                </a:solidFill>
              </a:rPr>
              <a:t>Objective: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Analyze mutual fund performance using historical NAV data.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Evaluate risk-adjusted returns using advanced financial metrics.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Compare fund performance against benchmark indices.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solidFill>
                  <a:srgbClr val="6666FF"/>
                </a:solidFill>
              </a:rPr>
              <a:t>Tools &amp; Technologies:</a:t>
            </a:r>
            <a:endParaRPr lang="en-US" sz="2400">
              <a:solidFill>
                <a:srgbClr val="6666FF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Python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Pandas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NumPy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Matplotlib</a:t>
            </a:r>
          </a:p>
          <a:p>
            <a:pPr>
              <a:buFont typeface="Wingdings 3"/>
              <a:buChar char=""/>
            </a:pPr>
            <a:r>
              <a:rPr lang="en-US" sz="1600" dirty="0" err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Github</a:t>
            </a: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solidFill>
                  <a:srgbClr val="6666FF"/>
                </a:solidFill>
              </a:rPr>
              <a:t>Project Coverage:</a:t>
            </a:r>
            <a:endParaRPr lang="en-US" sz="2400">
              <a:solidFill>
                <a:srgbClr val="6666FF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40 Mutual Fund Schemes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Historical Data (2022–2025)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NIFTY 50 &amp; NIFTY 100 Benchmarks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Performance &amp; Risk Analytics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5448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1EDDD-7CEF-AF71-8482-BBB8D36B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E312-502E-9AF8-A0CA-AD83FD5A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52316"/>
            <a:ext cx="8596668" cy="3322471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  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Data Sources &amp; Project Architecture</a:t>
            </a:r>
            <a:endParaRPr lang="en-US" sz="2800">
              <a:solidFill>
                <a:srgbClr val="000000"/>
              </a:solidFill>
              <a:ea typeface="+mj-lt"/>
              <a:cs typeface="+mj-lt"/>
            </a:endParaRP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A53D0A-6399-8B5D-1771-20A0F1835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640" y="684971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</a:rPr>
              <a:t>Data Sources:</a:t>
            </a:r>
            <a:endParaRPr lang="en-US" sz="2400">
              <a:solidFill>
                <a:srgbClr val="000000"/>
              </a:solidFill>
            </a:endParaRPr>
          </a:p>
          <a:p>
            <a:pPr algn="just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Mutual Fund Data:</a:t>
            </a:r>
            <a:endParaRPr lang="en-US">
              <a:solidFill>
                <a:srgbClr val="7030A0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Fund Master Data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NAV History Data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AUM Data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SIP Inflows Data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Investor Transaction Data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Benchmark Data:</a:t>
            </a:r>
            <a:endParaRPr lang="en-US">
              <a:solidFill>
                <a:srgbClr val="7030A0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40 Mutual Fund Schemes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Historical Data (2022–2025)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NIFTY 50 &amp; NIFTY 100 Benchmarks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Performance &amp; Risk Analytics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36470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EECEB-F54B-9C84-0FEC-F3318E7B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6249-6475-36E9-B1C3-4684A948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860" y="130181"/>
            <a:ext cx="9286993" cy="778988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Project Architecture</a:t>
            </a:r>
            <a:endParaRPr lang="en-US" sz="28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F10D-499B-0C12-52FC-EEC5FBF06D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8889" y="631147"/>
            <a:ext cx="11761695" cy="5603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solidFill>
                <a:srgbClr val="6666FF"/>
              </a:solidFill>
              <a:latin typeface="Trebuchet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9D63C65A-C159-A44F-9AB1-D6B8E2F1C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5" y="632670"/>
            <a:ext cx="12179904" cy="609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3571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D578-4F47-2DDF-6128-506B5B4D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3D29-9665-897C-1B44-F04DCC23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16031"/>
            <a:ext cx="9189334" cy="5922946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 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Data Cleaning &amp; Exploratory Data Analysis (EDA)</a:t>
            </a:r>
            <a:endParaRPr lang="en-US"/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47A72B0-5496-1447-FA54-B7798A27F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640" y="684971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Data Cleaning Activities:</a:t>
            </a:r>
            <a:endParaRPr lang="en-US"/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Removed duplicate records.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Handled missing and inconsistent values.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cs typeface="Times New Roman"/>
              </a:rPr>
              <a:t>Standardized date formats and column names. 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cs typeface="Times New Roman"/>
              </a:rPr>
              <a:t>Validated data quality across datasets.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Exploratory Data Analysis:</a:t>
            </a:r>
            <a:endParaRPr lang="en-US"/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cs typeface="Times New Roman"/>
              </a:rPr>
              <a:t>Fund category distribution analysis.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SIP inflow trend analysis.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AUM growth analysis.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Investor demographic analysis.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7297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2058D4-3C10-D25D-8377-2FED21519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496" y="408819"/>
            <a:ext cx="7766936" cy="448874"/>
          </a:xfrm>
        </p:spPr>
        <p:txBody>
          <a:bodyPr/>
          <a:lstStyle/>
          <a:p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Fund Score Distribution Pie Chart</a:t>
            </a:r>
            <a:endParaRPr lang="en-US" sz="2800">
              <a:solidFill>
                <a:srgbClr val="002060"/>
              </a:solidFill>
            </a:endParaRPr>
          </a:p>
        </p:txBody>
      </p:sp>
      <p:pic>
        <p:nvPicPr>
          <p:cNvPr id="8" name="Picture 7" descr="A blue pie chart with a triangle&#10;&#10;AI-generated content may be incorrect.">
            <a:extLst>
              <a:ext uri="{FF2B5EF4-FFF2-40B4-BE49-F238E27FC236}">
                <a16:creationId xmlns:a16="http://schemas.microsoft.com/office/drawing/2014/main" id="{4FDBB264-6290-545E-9183-B8E41ADDA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508" y="1172930"/>
            <a:ext cx="7766658" cy="41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52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2407-0531-45EF-322D-9BF2AAF9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B8127-62E7-8367-6340-EC5D8209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8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1EE5-6DF2-5BAF-2106-E81A020F0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14E4-C837-450F-707B-9819144CE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16031"/>
            <a:ext cx="9189334" cy="5922946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 Performance Analytics Metrics</a:t>
            </a:r>
            <a:endParaRPr lang="en-US">
              <a:solidFill>
                <a:srgbClr val="002060"/>
              </a:solidFill>
              <a:ea typeface="+mj-lt"/>
              <a:cs typeface="+mj-lt"/>
            </a:endParaRP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A4B10E6-50EF-D113-4B1C-FDB644F26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11" y="551923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Metrics Calculated:</a:t>
            </a:r>
            <a:endParaRPr lang="en-US">
              <a:ea typeface="+mn-lt"/>
              <a:cs typeface="+mn-lt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Measured the excess return generated by a mutual fund compared to its benchmark index. </a:t>
            </a: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Helped identify funds that consistently outperformed market expectations.</a:t>
            </a: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Methodology:</a:t>
            </a:r>
            <a:endParaRPr lang="en-US"/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Calculated daily returns from NAV history.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Measured long-term growth using CAGR.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Evaluated risk-adjusted returns using Sharpe Ratio.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Assessed downside risk using Sortino Ratio.</a:t>
            </a:r>
          </a:p>
          <a:p>
            <a:pPr>
              <a:buNone/>
            </a:pPr>
            <a:r>
              <a:rPr lang="en-US" sz="2400">
                <a:solidFill>
                  <a:srgbClr val="6666FF"/>
                </a:solidFill>
                <a:latin typeface="Trebuchet MS"/>
                <a:ea typeface="+mn-lt"/>
                <a:cs typeface="Times New Roman"/>
              </a:rPr>
              <a:t>Key Outcomes:</a:t>
            </a:r>
            <a:endParaRPr lang="en-US" sz="2400">
              <a:solidFill>
                <a:schemeClr val="tx1"/>
              </a:solidFill>
              <a:latin typeface="Trebuchet MS"/>
              <a:ea typeface="+mn-lt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Identified top-performing mutual funds.</a:t>
            </a: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Compared fund performance across different categories.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Generated performance rankings based on calculated metrics.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6666FF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37657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5794-9E87-A762-A0C4-6D07A4C7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571" y="524933"/>
            <a:ext cx="8596668" cy="1320800"/>
          </a:xfrm>
        </p:spPr>
        <p:txBody>
          <a:bodyPr/>
          <a:lstStyle/>
          <a:p>
            <a:pPr algn="r"/>
            <a:r>
              <a:rPr lang="en-US" sz="2800" dirty="0">
                <a:solidFill>
                  <a:srgbClr val="002060"/>
                </a:solidFill>
              </a:rPr>
              <a:t>Fund Performanc</a:t>
            </a:r>
            <a:r>
              <a:rPr lang="en-US" sz="2800">
                <a:solidFill>
                  <a:srgbClr val="002060"/>
                </a:solidFill>
              </a:rPr>
              <a:t>e Ranking</a:t>
            </a:r>
            <a:endParaRPr lang="en-US" sz="280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6A1F7E3-404B-9033-CA74-D8658D934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289" y="1024047"/>
            <a:ext cx="8991982" cy="513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41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DB3E-91F0-7B98-B699-82E537EE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313F-99C9-0FD0-8ABC-0408A7C5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16031"/>
            <a:ext cx="9189334" cy="5922946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</a:t>
            </a:r>
            <a:r>
              <a:rPr lang="en-US" sz="2800" dirty="0">
                <a:solidFill>
                  <a:srgbClr val="002060"/>
                </a:solidFill>
                <a:ea typeface="+mj-lt"/>
                <a:cs typeface="+mj-lt"/>
              </a:rPr>
              <a:t> 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Risk Analytics &amp; Benchmark Evaluation</a:t>
            </a:r>
            <a:endParaRPr lang="en-US">
              <a:solidFill>
                <a:srgbClr val="002060"/>
              </a:solidFill>
              <a:ea typeface="+mj-lt"/>
              <a:cs typeface="+mj-lt"/>
            </a:endParaRP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B40F99F-50D5-4EAC-03C5-F7765954B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11" y="551923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Risk Metrics Calculated:</a:t>
            </a:r>
            <a:endParaRPr lang="en-US"/>
          </a:p>
          <a:p>
            <a:pPr algn="just">
              <a:buNone/>
            </a:pPr>
            <a:r>
              <a:rPr lang="en-US">
                <a:solidFill>
                  <a:srgbClr val="7030A0"/>
                </a:solidFill>
                <a:latin typeface="Trebuchet MS"/>
                <a:ea typeface="+mn-lt"/>
                <a:cs typeface="Times New Roman"/>
              </a:rPr>
              <a:t>Alpha:</a:t>
            </a:r>
            <a:endParaRPr lang="en-US" dirty="0">
              <a:solidFill>
                <a:srgbClr val="7030A0"/>
              </a:solidFill>
              <a:latin typeface="Trebuchet MS"/>
              <a:ea typeface="+mn-lt"/>
              <a:cs typeface="Times New Roman"/>
            </a:endParaRPr>
          </a:p>
          <a:p>
            <a:pPr algn="just"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Measured the excess return generated by a mutual fund compared to its benchmark index.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Helped identify funds that consistently outperformed market expectations.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Beta:</a:t>
            </a:r>
            <a:endParaRPr lang="en-US">
              <a:solidFill>
                <a:srgbClr val="7030A0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Evaluated the sensitivity of a fund's returns relative to market movements.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Used to assess the systematic risk associated with each fund.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>
                <a:solidFill>
                  <a:srgbClr val="7030A0"/>
                </a:solidFill>
                <a:latin typeface="Trebuchet MS"/>
                <a:ea typeface="+mn-lt"/>
                <a:cs typeface="Times New Roman"/>
              </a:rPr>
              <a:t>Tracking Error:</a:t>
            </a:r>
            <a:endParaRPr lang="en-US">
              <a:solidFill>
                <a:srgbClr val="7030A0"/>
              </a:solidFill>
              <a:latin typeface="Trebuchet MS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Measured the deviation between fund returns and benchmark returns.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Helped analyze the consistency of benchmark tracking performance.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+mn-lt"/>
                <a:cs typeface="+mn-lt"/>
              </a:rPr>
              <a:t>Maximum Drawdown:</a:t>
            </a:r>
            <a:endParaRPr lang="en-US" dirty="0">
              <a:solidFill>
                <a:srgbClr val="7030A0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Calculated the maximum observed loss from a peak to a trough during the investment period.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Provided insights into downside risk and capital preservation capability.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  <a:latin typeface="Trebuchet MS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6666FF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  <a:latin typeface="Trebuchet MS" panose="020B0603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4039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FE1D-CCA4-9DB2-8C2A-80CCD60C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117E9-30F5-9B4A-1078-6C8B837BF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16031"/>
            <a:ext cx="9189334" cy="5922946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</a:t>
            </a:r>
            <a:endParaRPr lang="en-US" sz="2800" dirty="0">
              <a:solidFill>
                <a:srgbClr val="002060"/>
              </a:solidFill>
              <a:ea typeface="+mj-lt"/>
              <a:cs typeface="+mj-lt"/>
            </a:endParaRP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44AB905-E088-A558-2D57-F44FCFF65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33" y="165236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Key Findings:</a:t>
            </a:r>
            <a:endParaRPr lang="en-US"/>
          </a:p>
          <a:p>
            <a:pPr algn="just">
              <a:buNone/>
            </a:pPr>
            <a:endParaRPr lang="en-US" sz="2400" dirty="0">
              <a:solidFill>
                <a:srgbClr val="6666FF"/>
              </a:solidFill>
              <a:ea typeface="+mn-lt"/>
              <a:cs typeface="+mn-lt"/>
            </a:endParaRPr>
          </a:p>
          <a:p>
            <a:pPr algn="just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Benchmark Comparison:</a:t>
            </a:r>
            <a:endParaRPr lang="en-US"/>
          </a:p>
          <a:p>
            <a:pPr algn="just"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Alpha and Beta metrics enabled effective comparison of fund performance against benchmark indices.</a:t>
            </a: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Tracking Efficiency:</a:t>
            </a:r>
            <a:endParaRPr lang="en-US">
              <a:solidFill>
                <a:srgbClr val="7030A0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Tracking Error analysis identified funds with better benchmark replication and consistency.</a:t>
            </a:r>
            <a:endParaRPr lang="en-US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Downside Risk Assessment:</a:t>
            </a:r>
            <a:endParaRPr lang="en-US"/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Maximum Drawdown highlighted the potential losses investors could experience during adverse market conditions.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Risk-Adjusted Performance:</a:t>
            </a:r>
            <a:endParaRPr lang="en-US"/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Combined risk metrics provided a comprehensive understanding of fund performance beyond returns alone.</a:t>
            </a: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Trebuchet MS"/>
                <a:ea typeface="+mn-lt"/>
                <a:cs typeface="Times New Roman"/>
              </a:rPr>
              <a:t>Investment Insights:</a:t>
            </a: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2"/>
                </a:solidFill>
                <a:latin typeface="Trebuchet MS"/>
                <a:ea typeface="+mn-lt"/>
                <a:cs typeface="Times New Roman"/>
              </a:rPr>
              <a:t>Risk analytics helped identify funds with balanced return potential and manageable risk exposure.</a:t>
            </a:r>
          </a:p>
          <a:p>
            <a:pPr>
              <a:buFont typeface="Wingdings 3"/>
              <a:buChar char=""/>
            </a:pPr>
            <a:endParaRPr lang="en-US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  <a:latin typeface="Trebuchet MS"/>
              <a:ea typeface="+mn-lt"/>
              <a:cs typeface="Times New Roman"/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6666FF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  <a:latin typeface="Trebuchet MS" panose="020B0603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838591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4AEE-56B8-BBB1-E3A7-303307CD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834" y="240797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Tracking Error Analysis</a:t>
            </a:r>
            <a:endParaRPr lang="en-US" sz="2800">
              <a:solidFill>
                <a:srgbClr val="002060"/>
              </a:solidFill>
            </a:endParaRPr>
          </a:p>
        </p:txBody>
      </p:sp>
      <p:pic>
        <p:nvPicPr>
          <p:cNvPr id="4" name="Content Placeholder 3" descr="A graph showing a number of blue lines&#10;&#10;AI-generated content may be incorrect.">
            <a:extLst>
              <a:ext uri="{FF2B5EF4-FFF2-40B4-BE49-F238E27FC236}">
                <a16:creationId xmlns:a16="http://schemas.microsoft.com/office/drawing/2014/main" id="{370FC9B8-AD3D-08A6-6341-C843385EC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316" y="933641"/>
            <a:ext cx="9231110" cy="510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7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504F-D8B6-B573-AD30-BE7932C2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237F-F28F-1204-ECE7-3CA1E23B5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52316"/>
            <a:ext cx="8596668" cy="3322471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6666FF"/>
                </a:solidFill>
                <a:ea typeface="+mj-lt"/>
                <a:cs typeface="+mj-lt"/>
              </a:rPr>
              <a:t>             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 Fund Scorecard &amp; Top Performing Funds</a:t>
            </a: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A5AD3B-C443-9218-F27B-C5C9E3FBF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640" y="684971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Fund Scoring Methodology</a:t>
            </a:r>
            <a:r>
              <a:rPr lang="en-US" sz="2400">
                <a:solidFill>
                  <a:srgbClr val="6666FF"/>
                </a:solidFill>
              </a:rPr>
              <a:t>:</a:t>
            </a:r>
            <a:endParaRPr lang="en-US" sz="2400">
              <a:solidFill>
                <a:srgbClr val="000000"/>
              </a:solidFill>
            </a:endParaRPr>
          </a:p>
          <a:p>
            <a:pPr algn="just">
              <a:buNone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 composite fund score was generated using: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CAGR </a:t>
            </a: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Sharpe Ratio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Sortino Ratio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Alpha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Tracking Error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Maximum Drawdow</a:t>
            </a:r>
            <a:r>
              <a:rPr lang="en-US" sz="1600" dirty="0">
                <a:solidFill>
                  <a:schemeClr val="tx1"/>
                </a:solidFill>
                <a:ea typeface="+mn-lt"/>
                <a:cs typeface="+mn-lt"/>
              </a:rPr>
              <a:t>n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These metrics were combined to rank mutual funds based on both return potential and risk management.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Top Performing Funds:</a:t>
            </a:r>
            <a:endParaRPr lang="en-US"/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ICICI Pru Midcap Fund</a:t>
            </a: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Kotak </a:t>
            </a:r>
            <a:r>
              <a:rPr lang="en-US" sz="1600" dirty="0" err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Flexicap</a:t>
            </a: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Fund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HDFC Mid-Cap Opportunities Fund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SBI Small Cap Fund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80091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2E42-722F-2F36-84CC-4B988181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B251-3309-2E26-66A5-6375F479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52316"/>
            <a:ext cx="8596668" cy="3322471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rgbClr val="6666FF"/>
              </a:solidFill>
              <a:ea typeface="+mj-lt"/>
              <a:cs typeface="+mj-lt"/>
            </a:endParaRP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3185DD6-43EA-C0E9-574B-FA2F2791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715" y="343777"/>
            <a:ext cx="11610548" cy="61781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Key Findings:</a:t>
            </a:r>
            <a:endParaRPr lang="en-US">
              <a:ea typeface="+mn-lt"/>
              <a:cs typeface="+mn-lt"/>
            </a:endParaRPr>
          </a:p>
          <a:p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ICICI Pru Midcap Fund achieved the highest overall fund score.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Mid-cap and small-cap funds demonstrated strong performance potential.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Risk-adjusted metrics helped identify consistently performing schemes.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Fund scorecard simplified comparison across multiple mutual fund schemes.</a:t>
            </a:r>
            <a:endParaRPr lang="en-US" sz="160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  <a:latin typeface="Trebuchet MS" panose="020B0603020202020204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95A225-5E7B-3D96-71BB-A21D3A814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658810"/>
              </p:ext>
            </p:extLst>
          </p:nvPr>
        </p:nvGraphicFramePr>
        <p:xfrm>
          <a:off x="510427" y="2644435"/>
          <a:ext cx="8168640" cy="3132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238148758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388048771"/>
                    </a:ext>
                  </a:extLst>
                </a:gridCol>
              </a:tblGrid>
              <a:tr h="522127">
                <a:tc>
                  <a:txBody>
                    <a:bodyPr/>
                    <a:lstStyle/>
                    <a:p>
                      <a:r>
                        <a:rPr lang="en-US"/>
                        <a:t>              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 Fund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307581"/>
                  </a:ext>
                </a:extLst>
              </a:tr>
              <a:tr h="522127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/>
                          <a:cs typeface="Times New Roman"/>
                        </a:rPr>
                        <a:t>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 ICICI Pru Midcap Fund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297712"/>
                  </a:ext>
                </a:extLst>
              </a:tr>
              <a:tr h="522127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/>
                          <a:cs typeface="Times New Roman"/>
                        </a:rPr>
                        <a:t>              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Times New Roman"/>
                          <a:cs typeface="Times New Roman"/>
                        </a:rPr>
                        <a:t> Kotak </a:t>
                      </a:r>
                      <a:r>
                        <a:rPr lang="en-US" sz="1600" b="0" i="0" u="none" strike="noStrike" noProof="0" dirty="0" err="1">
                          <a:latin typeface="Times New Roman"/>
                          <a:cs typeface="Times New Roman"/>
                        </a:rPr>
                        <a:t>Flexicap</a:t>
                      </a:r>
                      <a:r>
                        <a:rPr lang="en-US" sz="1600" b="0" i="0" u="none" strike="noStrike" noProof="0" dirty="0">
                          <a:latin typeface="Times New Roman"/>
                          <a:cs typeface="Times New Roman"/>
                        </a:rPr>
                        <a:t> Fund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90316"/>
                  </a:ext>
                </a:extLst>
              </a:tr>
              <a:tr h="522127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/>
                          <a:cs typeface="Times New Roman"/>
                        </a:rPr>
                        <a:t>                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 HDFC Mid-Cap Opportunities Fund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306523"/>
                  </a:ext>
                </a:extLst>
              </a:tr>
              <a:tr h="522127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/>
                          <a:cs typeface="Times New Roman"/>
                        </a:rPr>
                        <a:t>                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 SBI Small Cap Fund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461159"/>
                  </a:ext>
                </a:extLst>
              </a:tr>
              <a:tr h="522127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/>
                          <a:cs typeface="Times New Roman"/>
                        </a:rPr>
                        <a:t>               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 Mirae Asset Large Cap Fund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077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066129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47D5-8E45-ED0A-E5D0-7097EAB8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3B35-3A44-F02D-BF25-6189F243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52316"/>
            <a:ext cx="8596668" cy="3322471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6666FF"/>
                </a:solidFill>
                <a:ea typeface="+mj-lt"/>
                <a:cs typeface="+mj-lt"/>
              </a:rPr>
              <a:t>             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Executive Overview Dashboard</a:t>
            </a: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7854347-F704-3791-69CB-CFBF18AE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70" y="3745886"/>
            <a:ext cx="11610548" cy="31172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Key Insights:</a:t>
            </a:r>
            <a:endParaRPr lang="en-US" sz="2400">
              <a:solidFill>
                <a:srgbClr val="6666FF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SIP inflows increased steadily from 2022 to 2025.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Investor participation showed consistent growth.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Mutual fund investments gained momentum over the analysis period.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trend reflects growing investor confidence in mutual funds.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B54EE-B047-9E5E-7020-B591DD4F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72" y="661319"/>
            <a:ext cx="8142100" cy="307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05340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66E9EDD-ED43-BA04-E876-DCA813AB3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726" y="339539"/>
            <a:ext cx="8497715" cy="570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76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58A9-9B39-842D-F64C-F5DC42CC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660F-3A54-8126-1F25-A0277019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       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Investor Analytics Dashboard</a:t>
            </a: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pic>
        <p:nvPicPr>
          <p:cNvPr id="3" name="Content Placeholder 2" descr="ghnhnA blue pie chart with a number of percentages">
            <a:extLst>
              <a:ext uri="{FF2B5EF4-FFF2-40B4-BE49-F238E27FC236}">
                <a16:creationId xmlns:a16="http://schemas.microsoft.com/office/drawing/2014/main" id="{C2142EED-44B9-7937-1DFB-34BEEF11300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795220" y="1558791"/>
            <a:ext cx="6945313" cy="32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3783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8F9779-A867-7C45-585D-4D7CDAF3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962" y="4768312"/>
            <a:ext cx="8596668" cy="1320800"/>
          </a:xfrm>
        </p:spPr>
        <p:txBody>
          <a:bodyPr/>
          <a:lstStyle/>
          <a:p>
            <a:r>
              <a:rPr lang="en-US" sz="1600" dirty="0" err="1">
                <a:solidFill>
                  <a:schemeClr val="tx1"/>
                </a:solidFill>
                <a:latin typeface="Times New Roman"/>
                <a:cs typeface="Times New Roman"/>
              </a:rPr>
              <a:t>Fig.</a:t>
            </a:r>
            <a:r>
              <a:rPr lang="en-US" sz="1600" dirty="0" err="1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Fund</a:t>
            </a:r>
            <a:r>
              <a:rPr lang="en-US" sz="1600" dirty="0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 Category Distribution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blue pie chart with a triangle&#10;&#10;AI-generated content may be incorrect.">
            <a:extLst>
              <a:ext uri="{FF2B5EF4-FFF2-40B4-BE49-F238E27FC236}">
                <a16:creationId xmlns:a16="http://schemas.microsoft.com/office/drawing/2014/main" id="{E40D3147-1EAC-FE9E-9E98-6F636A31D5A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317355" y="404868"/>
            <a:ext cx="7070725" cy="38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61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2EE1-BDA2-E4A2-BB1C-582EFFB0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127F-C2E6-4166-5E49-ECE7AFC5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52316"/>
            <a:ext cx="8596668" cy="3322471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       </a:t>
            </a:r>
            <a:r>
              <a:rPr lang="en-US" sz="2800" dirty="0">
                <a:solidFill>
                  <a:srgbClr val="002060"/>
                </a:solidFill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5FD2B4C-43A6-48DF-D024-E3FBD8C04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11" y="1350209"/>
            <a:ext cx="11610548" cy="5694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Key Insights:</a:t>
            </a:r>
            <a:endParaRPr lang="en-US"/>
          </a:p>
          <a:p>
            <a:pPr algn="just">
              <a:buNone/>
            </a:pPr>
            <a:endParaRPr lang="en-US" sz="2400">
              <a:solidFill>
                <a:srgbClr val="6666FF"/>
              </a:solidFill>
              <a:ea typeface="+mn-lt"/>
              <a:cs typeface="+mn-lt"/>
            </a:endParaRPr>
          </a:p>
          <a:p>
            <a:pPr algn="just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Fund Category Distribution:</a:t>
            </a:r>
            <a:endParaRPr lang="en-US">
              <a:solidFill>
                <a:srgbClr val="7030A0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Equity funds accounted for the majority of mutual fund schemes. 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Debt funds represented a smaller portion of the portfolio.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Investor Demographics:</a:t>
            </a:r>
          </a:p>
          <a:p>
            <a:pPr>
              <a:buFont typeface="Wingdings 3"/>
              <a:buChar char=""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Male investors constituted approximately 66% of the investor base. 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Female investors accounted for around 34% of investors.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investor base showed healthy participation across demographics.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Business</a:t>
            </a:r>
            <a:r>
              <a:rPr lang="en-US" dirty="0">
                <a:solidFill>
                  <a:srgbClr val="7030A0"/>
                </a:solidFill>
                <a:ea typeface="+mn-lt"/>
                <a:cs typeface="+mn-lt"/>
              </a:rPr>
              <a:t> Value:</a:t>
            </a:r>
            <a:endParaRPr lang="en-US" dirty="0"/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Helps understand investor preferences.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Supports fund segmentation and targeted investment strategies.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Provides insights into market participation trends</a:t>
            </a:r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>
              <a:buFont typeface="Wingdings 3"/>
              <a:buChar char=""/>
            </a:pP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23917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171A-F980-CB16-9116-13550C2F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FF159-ABB2-1F45-802B-DB9E7061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1" y="52316"/>
            <a:ext cx="8596668" cy="3322471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6666FF"/>
                </a:solidFill>
                <a:ea typeface="+mj-lt"/>
                <a:cs typeface="+mj-lt"/>
              </a:rPr>
              <a:t>       </a:t>
            </a:r>
            <a:r>
              <a:rPr lang="en-US" sz="2800">
                <a:solidFill>
                  <a:srgbClr val="002060"/>
                </a:solidFill>
                <a:ea typeface="+mj-lt"/>
                <a:cs typeface="+mj-lt"/>
              </a:rPr>
              <a:t>     Risk &amp; Performance Dashboard</a:t>
            </a:r>
          </a:p>
          <a:p>
            <a:pPr algn="ctr"/>
            <a:endParaRPr lang="en-US" sz="2800" dirty="0">
              <a:solidFill>
                <a:srgbClr val="6666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3699AB6-CE4A-114A-78D8-63937375B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031" y="4895344"/>
            <a:ext cx="11610548" cy="31172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tx1"/>
                </a:solidFill>
                <a:latin typeface="Times New Roman"/>
                <a:cs typeface="Times New Roman"/>
              </a:rPr>
              <a:t>Fig.</a:t>
            </a:r>
            <a:r>
              <a:rPr lang="en-US" sz="1600" dirty="0" err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Alpha</a:t>
            </a: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vs Beta Analysis</a:t>
            </a: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Picture 3" descr="A graph showing a number of blue lines&#10;&#10;AI-generated content may be incorrect.">
            <a:extLst>
              <a:ext uri="{FF2B5EF4-FFF2-40B4-BE49-F238E27FC236}">
                <a16:creationId xmlns:a16="http://schemas.microsoft.com/office/drawing/2014/main" id="{2561C3E4-3CAC-BE9C-5D12-8D7AD6D0B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442" y="849744"/>
            <a:ext cx="7579963" cy="353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23012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EEE5-A52C-9F2D-05D1-273C4836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791" y="5246176"/>
            <a:ext cx="8596668" cy="1320800"/>
          </a:xfrm>
        </p:spPr>
        <p:txBody>
          <a:bodyPr/>
          <a:lstStyle/>
          <a:p>
            <a:r>
              <a:rPr lang="en-US" sz="1600" dirty="0" err="1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Fig.Tracking</a:t>
            </a:r>
            <a:r>
              <a:rPr lang="en-US" sz="1600" dirty="0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 Error Analysis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F3938E-6574-7A4E-E94B-A52BDC9FA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330" y="1024047"/>
            <a:ext cx="6470713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10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B273-3C41-2F00-9BC9-78F679E3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147" y="4613328"/>
            <a:ext cx="8596668" cy="1320800"/>
          </a:xfrm>
        </p:spPr>
        <p:txBody>
          <a:bodyPr/>
          <a:lstStyle/>
          <a:p>
            <a:r>
              <a:rPr lang="en-US" sz="1800" dirty="0" err="1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Fig.Fund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 Score Distribution (</a:t>
            </a:r>
            <a:r>
              <a:rPr lang="en-US" sz="1800" dirty="0" err="1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Treemap</a:t>
            </a:r>
            <a:r>
              <a:rPr lang="en-US" sz="1800" dirty="0">
                <a:solidFill>
                  <a:schemeClr val="tx1"/>
                </a:solidFill>
                <a:latin typeface="Times New Roman"/>
                <a:ea typeface="+mj-lt"/>
                <a:cs typeface="Times New Roman"/>
              </a:rPr>
              <a:t>)</a:t>
            </a:r>
            <a:endParaRPr lang="en-US" sz="18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73DFC97-5364-A355-CF7F-195DBA461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447" y="378862"/>
            <a:ext cx="6912627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61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560B782-AFC7-1646-E016-1A9D4CFCBFEF}"/>
              </a:ext>
            </a:extLst>
          </p:cNvPr>
          <p:cNvSpPr txBox="1">
            <a:spLocks/>
          </p:cNvSpPr>
          <p:nvPr/>
        </p:nvSpPr>
        <p:spPr>
          <a:xfrm>
            <a:off x="295534" y="310428"/>
            <a:ext cx="11610548" cy="5700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Font typeface="Wingdings 3" charset="2"/>
              <a:buNone/>
            </a:pPr>
            <a:r>
              <a:rPr lang="en-US" sz="2400">
                <a:solidFill>
                  <a:srgbClr val="6666FF"/>
                </a:solidFill>
                <a:ea typeface="+mn-lt"/>
                <a:cs typeface="+mn-lt"/>
              </a:rPr>
              <a:t>Key Insights:</a:t>
            </a:r>
            <a:endParaRPr lang="en-US" sz="2400">
              <a:solidFill>
                <a:srgbClr val="6666FF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Alpha and Beta metrics were used to evaluate benchmark-relative performance.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Tracking Error measured benchmark tracking consistency.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Fund Score Distribution highlighted top-performing mutual funds.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Risk-adjusted analysis enabled comprehensive fund evaluation.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analytics framework enabled identification of funds with balanced risk-return characteristics.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Comparative analysis supported more informed and data-driven investment decision-making.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Performance metrics helped distinguish consistently performing funds from highly volatile schemes.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Integrated risk analytics improved overall mutual fund evaluation accuracy.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dashboard simplified interpretation of complex financial performance indicators through interactive visualizations.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Wingdings 3" charset="2"/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Wingdings 3" charset="2"/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Wingdings 3" charset="2"/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492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AA9E-854E-9651-9031-4240FCC9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812" y="279779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002060"/>
                </a:solidFill>
              </a:rPr>
              <a:t>Key Project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528C4-1685-E1AF-36DA-44D90D60C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454" y="1387216"/>
            <a:ext cx="8596668" cy="476787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1. Growing SIP Investments:</a:t>
            </a:r>
          </a:p>
          <a:p>
            <a:r>
              <a:rPr lang="en-US" sz="1600">
                <a:latin typeface="Times New Roman"/>
                <a:ea typeface="+mn-lt"/>
                <a:cs typeface="Times New Roman"/>
              </a:rPr>
              <a:t>Monthly SIP inflows showed a consistent upward trend from 2022 to 2025. </a:t>
            </a:r>
            <a:endParaRPr lang="en-US" sz="1600">
              <a:latin typeface="Times New Roman"/>
              <a:cs typeface="Times New Roman"/>
            </a:endParaRPr>
          </a:p>
          <a:p>
            <a:r>
              <a:rPr lang="en-US" sz="1600">
                <a:latin typeface="Times New Roman"/>
                <a:ea typeface="+mn-lt"/>
                <a:cs typeface="Times New Roman"/>
              </a:rPr>
              <a:t>Indicates increasing investor confidence in mutual fund investments.</a:t>
            </a:r>
            <a:endParaRPr lang="en-US" sz="16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2. Equity Funds Dominate:</a:t>
            </a: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Equity funds accounted for the majority of schemes in the dataset. </a:t>
            </a:r>
          </a:p>
          <a:p>
            <a:r>
              <a:rPr lang="en-US" sz="1600">
                <a:latin typeface="Times New Roman"/>
                <a:ea typeface="+mn-lt"/>
                <a:cs typeface="Times New Roman"/>
              </a:rPr>
              <a:t>Investors showed a stronger preference for long-term wealth creation through equity investments.</a:t>
            </a:r>
            <a:endParaRPr lang="en-US" sz="16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3. Strong Fund Performance:</a:t>
            </a:r>
            <a:endParaRPr lang="en-US">
              <a:solidFill>
                <a:srgbClr val="7030A0"/>
              </a:solidFill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Several mutual funds demonstrated superior performance based on CAGR, Sharpe Ratio, and Sortino Ratio. </a:t>
            </a: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Fund scorecard helped identify top-performing schemes.</a:t>
            </a:r>
            <a:endParaRPr lang="en-US" sz="1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4. Effective Risk Assessment:</a:t>
            </a:r>
            <a:endParaRPr lang="en-US">
              <a:solidFill>
                <a:srgbClr val="7030A0"/>
              </a:solidFill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Alpha, Beta, Tracking Error, and Maximum Drawdown provided a comprehensive view of fund risk. </a:t>
            </a: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Risk-adjusted metrics enabled better investment </a:t>
            </a:r>
            <a:r>
              <a:rPr lang="en-US" sz="1600">
                <a:latin typeface="Times New Roman"/>
                <a:ea typeface="+mn-lt"/>
                <a:cs typeface="Times New Roman"/>
              </a:rPr>
              <a:t>evaluation.</a:t>
            </a: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ea typeface="+mn-lt"/>
                <a:cs typeface="+mn-lt"/>
              </a:rPr>
              <a:t>5. Dashboard-Driven Decision Making:</a:t>
            </a:r>
          </a:p>
          <a:p>
            <a:r>
              <a:rPr lang="en-US" sz="1600">
                <a:latin typeface="Times New Roman"/>
                <a:ea typeface="+mn-lt"/>
                <a:cs typeface="Times New Roman"/>
              </a:rPr>
              <a:t>Power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BI dashboards transformed complex financial data into actionable insights. 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r>
              <a:rPr lang="en-US" sz="1600">
                <a:latin typeface="Times New Roman"/>
                <a:ea typeface="+mn-lt"/>
                <a:cs typeface="Times New Roman"/>
              </a:rPr>
              <a:t>Improved fund comparison and performance monitoring.</a:t>
            </a:r>
            <a:endParaRPr lang="en-US" sz="160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ea typeface="+mn-lt"/>
              <a:cs typeface="Times New Roman"/>
            </a:endParaRPr>
          </a:p>
          <a:p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252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FC21-41B2-87F4-26FD-39DFEA68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E688C51-A935-8301-B59D-CCC71BD62845}"/>
              </a:ext>
            </a:extLst>
          </p:cNvPr>
          <p:cNvSpPr txBox="1">
            <a:spLocks/>
          </p:cNvSpPr>
          <p:nvPr/>
        </p:nvSpPr>
        <p:spPr>
          <a:xfrm>
            <a:off x="295534" y="310428"/>
            <a:ext cx="11610548" cy="5700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                                          </a:t>
            </a:r>
            <a:r>
              <a:rPr lang="en-US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-US" sz="2800">
                <a:solidFill>
                  <a:srgbClr val="002060"/>
                </a:solidFill>
                <a:ea typeface="+mn-lt"/>
                <a:cs typeface="+mn-lt"/>
              </a:rPr>
              <a:t>Conclusion &amp; Future Scope</a:t>
            </a:r>
            <a:endParaRPr lang="en-US" sz="2800">
              <a:solidFill>
                <a:srgbClr val="002060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solidFill>
                  <a:srgbClr val="6666FF"/>
                </a:solidFill>
                <a:ea typeface="+mn-lt"/>
                <a:cs typeface="+mn-lt"/>
              </a:rPr>
              <a:t>Conclusion:</a:t>
            </a:r>
            <a:endParaRPr lang="en-US" sz="2000">
              <a:solidFill>
                <a:srgbClr val="6666FF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Successfully analyzed mutual fund datasets using Python and Power BI.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Performed data cleaning, exploratory analysis, performance evaluation, and risk assessment.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Developed a fund scoring framework to rank mutual fund schemes.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Built interactive dashboards for investor analytics and fund performance monitoring. 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Generated meaningful insights to support informed investment decisions.</a:t>
            </a:r>
          </a:p>
          <a:p>
            <a:pPr marL="0" indent="0">
              <a:buNone/>
            </a:pPr>
            <a:r>
              <a:rPr lang="en-US" sz="2000">
                <a:solidFill>
                  <a:srgbClr val="6666FF"/>
                </a:solidFill>
                <a:ea typeface="+mn-lt"/>
                <a:cs typeface="+mn-lt"/>
              </a:rPr>
              <a:t>Future Scope:</a:t>
            </a:r>
            <a:endParaRPr lang="en-US" sz="2000">
              <a:solidFill>
                <a:srgbClr val="6666FF"/>
              </a:solidFill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Integrate real-time mutual fund and benchmark data APIs. </a:t>
            </a: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Develop a personalized fund recommendation system. 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Implement predictive analytics using Machine Learning models. 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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Add portfolio optimization and asset allocation features.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dirty="0">
              <a:solidFill>
                <a:srgbClr val="404040"/>
              </a:solidFill>
              <a:latin typeface="Trebuchet MS" panose="020B0603020202020204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Wingdings 3" charset="2"/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buFont typeface="Wingdings 3"/>
              <a:buChar char="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Wingdings 3" charset="2"/>
              <a:buNone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Wingdings 3" charset="2"/>
              <a:buNone/>
            </a:pP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494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35177-164B-7FA7-F8FB-F0A91D40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379" y="397753"/>
            <a:ext cx="10177532" cy="60644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                                    </a:t>
            </a:r>
            <a:r>
              <a:rPr lang="en-US" sz="3600" dirty="0">
                <a:latin typeface="Calibri"/>
                <a:ea typeface="Calibri"/>
                <a:cs typeface="Calibri"/>
              </a:rPr>
              <a:t>  </a:t>
            </a:r>
            <a:r>
              <a:rPr lang="en-US" sz="3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Thank You</a:t>
            </a:r>
          </a:p>
          <a:p>
            <a:pPr marL="0" indent="0">
              <a:buNone/>
            </a:pPr>
            <a:endParaRPr lang="en-US" sz="360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 </a:t>
            </a:r>
            <a:r>
              <a:rPr lang="en-US" sz="2400">
                <a:ea typeface="+mn-lt"/>
                <a:cs typeface="+mn-lt"/>
              </a:rPr>
              <a:t>   Questions &amp; Discussion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              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   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Presented By</a:t>
            </a: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     </a:t>
            </a:r>
            <a:r>
              <a:rPr lang="en-US" sz="24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Nallabothu</a:t>
            </a: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Jaswanth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BlueStock Fintech Internship Program</a:t>
            </a: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          June 2026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1508425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Waveform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AITS</Template>
  <TotalTime>255</TotalTime>
  <Words>3528</Words>
  <Application>Microsoft Office PowerPoint</Application>
  <PresentationFormat>Widescreen</PresentationFormat>
  <Paragraphs>332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Facet</vt:lpstr>
      <vt:lpstr>Metro</vt:lpstr>
      <vt:lpstr>Horizon</vt:lpstr>
      <vt:lpstr>Civic</vt:lpstr>
      <vt:lpstr>Waveform</vt:lpstr>
      <vt:lpstr>Mutual Fund Analytics Dashboard &amp; Performance Evaluation Capstone Project – Mutual Fund Analytics </vt:lpstr>
      <vt:lpstr>        Project Overview</vt:lpstr>
      <vt:lpstr>        Data Sources &amp; Project Architecture </vt:lpstr>
      <vt:lpstr>Project Architecture</vt:lpstr>
      <vt:lpstr>       Data Cleaning &amp; Exploratory Data Analysis (EDA) </vt:lpstr>
      <vt:lpstr>Fund Score Distribution Pie Chart</vt:lpstr>
      <vt:lpstr>PowerPoint Presentation</vt:lpstr>
      <vt:lpstr>       Performance Analytics Metrics </vt:lpstr>
      <vt:lpstr>Fund Performance Ranking </vt:lpstr>
      <vt:lpstr>       Risk Analytics &amp; Benchmark Evaluation </vt:lpstr>
      <vt:lpstr>      </vt:lpstr>
      <vt:lpstr>Tracking Error Analysis</vt:lpstr>
      <vt:lpstr>              Fund Scorecard &amp; Top Performing Funds </vt:lpstr>
      <vt:lpstr> </vt:lpstr>
      <vt:lpstr>             Executive Overview Dashboard </vt:lpstr>
      <vt:lpstr>PowerPoint Presentation</vt:lpstr>
      <vt:lpstr>             Investor Analytics Dashboard </vt:lpstr>
      <vt:lpstr>Fig.Fund Category Distribution</vt:lpstr>
      <vt:lpstr>              </vt:lpstr>
      <vt:lpstr>            Risk &amp; Performance Dashboard </vt:lpstr>
      <vt:lpstr>Fig.Tracking Error Analysis</vt:lpstr>
      <vt:lpstr>Fig.Fund Score Distribution (Treemap)</vt:lpstr>
      <vt:lpstr>PowerPoint Presentation</vt:lpstr>
      <vt:lpstr>Key Project Insights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sasi kumar</dc:creator>
  <cp:lastModifiedBy>himanth mandala</cp:lastModifiedBy>
  <cp:revision>1226</cp:revision>
  <dcterms:created xsi:type="dcterms:W3CDTF">2021-12-20T13:54:07Z</dcterms:created>
  <dcterms:modified xsi:type="dcterms:W3CDTF">2026-06-11T16:30:21Z</dcterms:modified>
</cp:coreProperties>
</file>